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7"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2"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A15A523-A211-463E-ABD5-53BD4F34CB80}"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832154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A15A523-A211-463E-ABD5-53BD4F34CB80}"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3167434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15A523-A211-463E-ABD5-53BD4F34CB80}"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57134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A15A523-A211-463E-ABD5-53BD4F34CB80}" type="datetimeFigureOut">
              <a:rPr lang="en-GB" smtClean="0"/>
              <a:t>23/09/2025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132866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A15A523-A211-463E-ABD5-53BD4F34CB80}" type="datetimeFigureOut">
              <a:rPr lang="en-GB" smtClean="0"/>
              <a:t>23/09/2025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1413717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A15A523-A211-463E-ABD5-53BD4F34CB80}" type="datetimeFigureOut">
              <a:rPr lang="en-GB" smtClean="0"/>
              <a:t>23/09/2025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3125924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15A523-A211-463E-ABD5-53BD4F34CB80}" type="datetimeFigureOut">
              <a:rPr lang="en-GB" smtClean="0"/>
              <a:t>23/09/2025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3428680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A15A523-A211-463E-ABD5-53BD4F34CB80}" type="datetimeFigureOut">
              <a:rPr lang="en-GB" smtClean="0"/>
              <a:t>23/09/2025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3283668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A15A523-A211-463E-ABD5-53BD4F34CB80}" type="datetimeFigureOut">
              <a:rPr lang="en-GB" smtClean="0"/>
              <a:t>23/09/2025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20148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15A523-A211-463E-ABD5-53BD4F34CB80}"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2086016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15A523-A211-463E-ABD5-53BD4F34CB80}"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4302C63-DF2D-4A24-BAA9-251A1FC9246C}"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57124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15A523-A211-463E-ABD5-53BD4F34CB80}"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3348185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15A523-A211-463E-ABD5-53BD4F34CB80}"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4302C63-DF2D-4A24-BAA9-251A1FC9246C}"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00490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15A523-A211-463E-ABD5-53BD4F34CB80}"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3833128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A15A523-A211-463E-ABD5-53BD4F34CB80}"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1221937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A15A523-A211-463E-ABD5-53BD4F34CB80}"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4302C63-DF2D-4A24-BAA9-251A1FC9246C}" type="slidenum">
              <a:rPr lang="en-GB" smtClean="0"/>
              <a:t>‹#›</a:t>
            </a:fld>
            <a:endParaRPr lang="en-GB"/>
          </a:p>
        </p:txBody>
      </p:sp>
    </p:spTree>
    <p:extLst>
      <p:ext uri="{BB962C8B-B14F-4D97-AF65-F5344CB8AC3E}">
        <p14:creationId xmlns:p14="http://schemas.microsoft.com/office/powerpoint/2010/main" val="197688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A15A523-A211-463E-ABD5-53BD4F34CB80}" type="datetimeFigureOut">
              <a:rPr lang="en-GB" smtClean="0"/>
              <a:t>23/09/2025</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4302C63-DF2D-4A24-BAA9-251A1FC9246C}" type="slidenum">
              <a:rPr lang="en-GB" smtClean="0"/>
              <a:t>‹#›</a:t>
            </a:fld>
            <a:endParaRPr lang="en-GB"/>
          </a:p>
        </p:txBody>
      </p:sp>
    </p:spTree>
    <p:extLst>
      <p:ext uri="{BB962C8B-B14F-4D97-AF65-F5344CB8AC3E}">
        <p14:creationId xmlns:p14="http://schemas.microsoft.com/office/powerpoint/2010/main" val="5821576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tmuya@kcau.ac.k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www.tableau.com/data-insights/reference-library/visual-analytics/charts/box-whisker" TargetMode="External"/><Relationship Id="rId13" Type="http://schemas.openxmlformats.org/officeDocument/2006/relationships/hyperlink" Target="https://www.tableau.com/data-insights/reference-library/visual-analytics/charts/pie-charts" TargetMode="External"/><Relationship Id="rId3" Type="http://schemas.openxmlformats.org/officeDocument/2006/relationships/hyperlink" Target="https://www.tableau.com/data-insights/reference-library/visual-analytics/tables" TargetMode="External"/><Relationship Id="rId7" Type="http://schemas.openxmlformats.org/officeDocument/2006/relationships/hyperlink" Target="https://www.tableau.com/data-insights/reference-library/visual-analytics/charts/bar-charts" TargetMode="External"/><Relationship Id="rId12" Type="http://schemas.openxmlformats.org/officeDocument/2006/relationships/hyperlink" Target="https://www.tableau.com/learn/articles/how-to/histogram" TargetMode="External"/><Relationship Id="rId2" Type="http://schemas.openxmlformats.org/officeDocument/2006/relationships/hyperlink" Target="https://www.tableau.com/data-insights/reference-library/visual-analytics/charts" TargetMode="External"/><Relationship Id="rId1" Type="http://schemas.openxmlformats.org/officeDocument/2006/relationships/slideLayout" Target="../slideLayouts/slideLayout2.xml"/><Relationship Id="rId6" Type="http://schemas.openxmlformats.org/officeDocument/2006/relationships/hyperlink" Target="https://www.tableau.com/data-insights/reference-library/visual-analytics/geospatial/area-maps" TargetMode="External"/><Relationship Id="rId11" Type="http://schemas.openxmlformats.org/officeDocument/2006/relationships/hyperlink" Target="https://www.tableau.com/data-insights/reference-library/visual-analytics/tables/highlight-tables-and-heatmaps" TargetMode="External"/><Relationship Id="rId5" Type="http://schemas.openxmlformats.org/officeDocument/2006/relationships/hyperlink" Target="https://www.tableau.com/learn/webinars/what-dashboard-anyway" TargetMode="External"/><Relationship Id="rId10" Type="http://schemas.openxmlformats.org/officeDocument/2006/relationships/hyperlink" Target="https://www.tableau.com/learn/articles/how-to/gantt-chart" TargetMode="External"/><Relationship Id="rId4" Type="http://schemas.openxmlformats.org/officeDocument/2006/relationships/hyperlink" Target="https://www.tableau.com/data-insights/reference-library/visual-analytics/geospatial" TargetMode="External"/><Relationship Id="rId9" Type="http://schemas.openxmlformats.org/officeDocument/2006/relationships/hyperlink" Target="https://www.tableau.com/data-insights/reference-library/visual-analytics/charts/bullet-graphs" TargetMode="External"/><Relationship Id="rId14" Type="http://schemas.openxmlformats.org/officeDocument/2006/relationships/hyperlink" Target="https://www.tableau.com/data-insights/reference-library/visual-analytics/charts/treemap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B8AF-8703-6A6A-7F51-724712F63F4E}"/>
              </a:ext>
            </a:extLst>
          </p:cNvPr>
          <p:cNvSpPr>
            <a:spLocks noGrp="1"/>
          </p:cNvSpPr>
          <p:nvPr>
            <p:ph type="ctrTitle"/>
          </p:nvPr>
        </p:nvSpPr>
        <p:spPr>
          <a:xfrm>
            <a:off x="492370" y="2404534"/>
            <a:ext cx="9439421" cy="1646302"/>
          </a:xfrm>
        </p:spPr>
        <p:txBody>
          <a:bodyPr>
            <a:normAutofit fontScale="90000"/>
          </a:bodyPr>
          <a:lstStyle/>
          <a:p>
            <a:r>
              <a:rPr lang="en-GB" dirty="0"/>
              <a:t>Unit code: DSA 2202: Unit Title: Data Driven Visualization and Decision Making</a:t>
            </a:r>
          </a:p>
        </p:txBody>
      </p:sp>
      <p:sp>
        <p:nvSpPr>
          <p:cNvPr id="3" name="Subtitle 2">
            <a:extLst>
              <a:ext uri="{FF2B5EF4-FFF2-40B4-BE49-F238E27FC236}">
                <a16:creationId xmlns:a16="http://schemas.microsoft.com/office/drawing/2014/main" id="{E247084D-4416-D79F-8770-1C22F12A504F}"/>
              </a:ext>
            </a:extLst>
          </p:cNvPr>
          <p:cNvSpPr>
            <a:spLocks noGrp="1"/>
          </p:cNvSpPr>
          <p:nvPr>
            <p:ph type="subTitle" idx="1"/>
          </p:nvPr>
        </p:nvSpPr>
        <p:spPr/>
        <p:txBody>
          <a:bodyPr>
            <a:normAutofit lnSpcReduction="10000"/>
          </a:bodyPr>
          <a:lstStyle/>
          <a:p>
            <a:r>
              <a:rPr lang="en-US" b="1" dirty="0"/>
              <a:t>Lecturer’s Name: Dr. Tyrus Muya 	</a:t>
            </a:r>
          </a:p>
          <a:p>
            <a:r>
              <a:rPr lang="en-US" b="1" dirty="0"/>
              <a:t>Email: </a:t>
            </a:r>
            <a:r>
              <a:rPr lang="en-US" b="1" u="sng" dirty="0">
                <a:hlinkClick r:id="rId2"/>
              </a:rPr>
              <a:t>tmuya@kcau.ac.ke</a:t>
            </a:r>
            <a:r>
              <a:rPr lang="en-US" b="1" dirty="0"/>
              <a:t>  	</a:t>
            </a:r>
          </a:p>
          <a:p>
            <a:r>
              <a:rPr lang="en-US" b="1" dirty="0"/>
              <a:t>Contact 0721913790</a:t>
            </a:r>
            <a:endParaRPr lang="en-GB" dirty="0"/>
          </a:p>
        </p:txBody>
      </p:sp>
    </p:spTree>
    <p:extLst>
      <p:ext uri="{BB962C8B-B14F-4D97-AF65-F5344CB8AC3E}">
        <p14:creationId xmlns:p14="http://schemas.microsoft.com/office/powerpoint/2010/main" val="4119934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BB1B0-B2CC-3A0B-D3B3-63B960BC6BA6}"/>
              </a:ext>
            </a:extLst>
          </p:cNvPr>
          <p:cNvSpPr>
            <a:spLocks noGrp="1"/>
          </p:cNvSpPr>
          <p:nvPr>
            <p:ph type="title"/>
          </p:nvPr>
        </p:nvSpPr>
        <p:spPr/>
        <p:txBody>
          <a:bodyPr/>
          <a:lstStyle/>
          <a:p>
            <a:r>
              <a:rPr lang="en-GB" dirty="0"/>
              <a:t>INTRODUCTION TO DATA</a:t>
            </a:r>
          </a:p>
        </p:txBody>
      </p:sp>
      <p:sp>
        <p:nvSpPr>
          <p:cNvPr id="3" name="Content Placeholder 2">
            <a:extLst>
              <a:ext uri="{FF2B5EF4-FFF2-40B4-BE49-F238E27FC236}">
                <a16:creationId xmlns:a16="http://schemas.microsoft.com/office/drawing/2014/main" id="{4A073358-EC13-0403-B73A-37001DF9F3E0}"/>
              </a:ext>
            </a:extLst>
          </p:cNvPr>
          <p:cNvSpPr>
            <a:spLocks noGrp="1"/>
          </p:cNvSpPr>
          <p:nvPr>
            <p:ph idx="1"/>
          </p:nvPr>
        </p:nvSpPr>
        <p:spPr>
          <a:xfrm>
            <a:off x="677333" y="1252025"/>
            <a:ext cx="10837333" cy="5190978"/>
          </a:xfrm>
        </p:spPr>
        <p:txBody>
          <a:bodyPr/>
          <a:lstStyle/>
          <a:p>
            <a:pPr marL="0" indent="0">
              <a:buNone/>
            </a:pPr>
            <a:r>
              <a:rPr lang="en-GB" b="1" dirty="0"/>
              <a:t>What is Data?</a:t>
            </a:r>
          </a:p>
          <a:p>
            <a:r>
              <a:rPr lang="en-GB" b="1" dirty="0"/>
              <a:t>Definition</a:t>
            </a:r>
            <a:r>
              <a:rPr lang="en-GB" dirty="0"/>
              <a:t>: Data are representations of raw facts, figures, or symbols describing objects, events  or phenomena, observations, or measurements collected from the real world.</a:t>
            </a:r>
          </a:p>
          <a:p>
            <a:r>
              <a:rPr lang="en-GB" b="1" dirty="0"/>
              <a:t>Forms</a:t>
            </a:r>
            <a:r>
              <a:rPr lang="en-GB" dirty="0"/>
              <a:t>: Numbers, text, images, audio, video, sensor readings, clickstreams, logs, etc</a:t>
            </a:r>
          </a:p>
          <a:p>
            <a:pPr marL="0" indent="0">
              <a:buNone/>
            </a:pPr>
            <a:r>
              <a:rPr lang="en-GB" b="1" dirty="0"/>
              <a:t>Data vs. Information vs. Knowledge</a:t>
            </a:r>
            <a:endParaRPr lang="en-GB" dirty="0"/>
          </a:p>
          <a:p>
            <a:r>
              <a:rPr lang="en-GB" i="1" dirty="0"/>
              <a:t>Data</a:t>
            </a:r>
            <a:r>
              <a:rPr lang="en-GB" dirty="0"/>
              <a:t>: raw, unprocessed.</a:t>
            </a:r>
          </a:p>
          <a:p>
            <a:r>
              <a:rPr lang="en-GB" i="1" dirty="0"/>
              <a:t>Information</a:t>
            </a:r>
            <a:r>
              <a:rPr lang="en-GB" dirty="0"/>
              <a:t>: data processed to provide meaning.</a:t>
            </a:r>
          </a:p>
          <a:p>
            <a:r>
              <a:rPr lang="en-GB" i="1" dirty="0"/>
              <a:t>Knowledge</a:t>
            </a:r>
            <a:r>
              <a:rPr lang="en-GB" dirty="0"/>
              <a:t>: insights and understanding derived from information</a:t>
            </a:r>
          </a:p>
          <a:p>
            <a:pPr marL="0" indent="0">
              <a:buNone/>
            </a:pPr>
            <a:r>
              <a:rPr lang="en-GB" b="1" dirty="0"/>
              <a:t>Importance: </a:t>
            </a:r>
            <a:r>
              <a:rPr lang="en-GB" dirty="0"/>
              <a:t>Foundation for decision-making, analytics, and visualization</a:t>
            </a:r>
          </a:p>
          <a:p>
            <a:pPr marL="0" indent="0">
              <a:buNone/>
            </a:pPr>
            <a:r>
              <a:rPr lang="en-GB" b="1" dirty="0"/>
              <a:t>Data Lifecycle</a:t>
            </a:r>
            <a:r>
              <a:rPr lang="en-GB" dirty="0"/>
              <a:t>: Generation → Collection → Cleaning/Preparation → Analysis → Visualization → Interpretation</a:t>
            </a:r>
          </a:p>
          <a:p>
            <a:endParaRPr lang="en-GB" dirty="0"/>
          </a:p>
          <a:p>
            <a:endParaRPr lang="en-GB" dirty="0"/>
          </a:p>
        </p:txBody>
      </p:sp>
    </p:spTree>
    <p:extLst>
      <p:ext uri="{BB962C8B-B14F-4D97-AF65-F5344CB8AC3E}">
        <p14:creationId xmlns:p14="http://schemas.microsoft.com/office/powerpoint/2010/main" val="4105535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4EBC8-1B84-994D-9153-82CCAD11B61E}"/>
              </a:ext>
            </a:extLst>
          </p:cNvPr>
          <p:cNvSpPr>
            <a:spLocks noGrp="1"/>
          </p:cNvSpPr>
          <p:nvPr>
            <p:ph type="title"/>
          </p:nvPr>
        </p:nvSpPr>
        <p:spPr/>
        <p:txBody>
          <a:bodyPr/>
          <a:lstStyle/>
          <a:p>
            <a:r>
              <a:rPr lang="en-GB" dirty="0"/>
              <a:t>Data Attributes (Variables)</a:t>
            </a:r>
          </a:p>
        </p:txBody>
      </p:sp>
      <p:sp>
        <p:nvSpPr>
          <p:cNvPr id="3" name="Content Placeholder 2">
            <a:extLst>
              <a:ext uri="{FF2B5EF4-FFF2-40B4-BE49-F238E27FC236}">
                <a16:creationId xmlns:a16="http://schemas.microsoft.com/office/drawing/2014/main" id="{9F3DADB9-7066-F9BD-0E8A-40863424FAD5}"/>
              </a:ext>
            </a:extLst>
          </p:cNvPr>
          <p:cNvSpPr>
            <a:spLocks noGrp="1"/>
          </p:cNvSpPr>
          <p:nvPr>
            <p:ph idx="1"/>
          </p:nvPr>
        </p:nvSpPr>
        <p:spPr>
          <a:xfrm>
            <a:off x="211015" y="1420837"/>
            <a:ext cx="11521439" cy="5176911"/>
          </a:xfrm>
        </p:spPr>
        <p:txBody>
          <a:bodyPr>
            <a:normAutofit/>
          </a:bodyPr>
          <a:lstStyle/>
          <a:p>
            <a:pPr marL="0" indent="0">
              <a:buNone/>
            </a:pPr>
            <a:r>
              <a:rPr lang="en-GB" b="1" dirty="0"/>
              <a:t>Qualitative (Categorical)</a:t>
            </a:r>
            <a:endParaRPr lang="en-GB" dirty="0"/>
          </a:p>
          <a:p>
            <a:r>
              <a:rPr lang="en-GB" b="1" dirty="0"/>
              <a:t>Nominal</a:t>
            </a:r>
            <a:r>
              <a:rPr lang="en-GB" dirty="0"/>
              <a:t>: Categories without inherent order (e.g., gender, </a:t>
            </a:r>
            <a:r>
              <a:rPr lang="en-GB" dirty="0" err="1"/>
              <a:t>color</a:t>
            </a:r>
            <a:r>
              <a:rPr lang="en-GB" dirty="0"/>
              <a:t>).</a:t>
            </a:r>
          </a:p>
          <a:p>
            <a:r>
              <a:rPr lang="en-GB" b="1" dirty="0"/>
              <a:t>Ordinal</a:t>
            </a:r>
            <a:r>
              <a:rPr lang="en-GB" dirty="0"/>
              <a:t>: Ordered categories (e.g., satisfaction level: low–medium–high).</a:t>
            </a:r>
          </a:p>
          <a:p>
            <a:pPr marL="0" indent="0">
              <a:buNone/>
            </a:pPr>
            <a:r>
              <a:rPr lang="en-GB" b="1" dirty="0"/>
              <a:t>Quantitative (Numeric)</a:t>
            </a:r>
            <a:endParaRPr lang="en-GB" dirty="0"/>
          </a:p>
          <a:p>
            <a:r>
              <a:rPr lang="en-GB" b="1" dirty="0"/>
              <a:t>Interval</a:t>
            </a:r>
            <a:r>
              <a:rPr lang="en-GB" dirty="0"/>
              <a:t>: Numeric scale with equal intervals but no true zero (e.g., temperature °C).</a:t>
            </a:r>
          </a:p>
          <a:p>
            <a:r>
              <a:rPr lang="en-GB" b="1" dirty="0"/>
              <a:t>Ratio</a:t>
            </a:r>
            <a:r>
              <a:rPr lang="en-GB" dirty="0"/>
              <a:t>: Numeric with true zero (e.g., weight, income).</a:t>
            </a:r>
          </a:p>
          <a:p>
            <a:pPr marL="0" indent="0">
              <a:buNone/>
            </a:pPr>
            <a:r>
              <a:rPr lang="en-GB" b="1" dirty="0"/>
              <a:t>Complex Attributes</a:t>
            </a:r>
            <a:endParaRPr lang="en-GB" dirty="0"/>
          </a:p>
          <a:p>
            <a:r>
              <a:rPr lang="en-GB" dirty="0"/>
              <a:t>Temporal (time stamps, intervals), </a:t>
            </a:r>
          </a:p>
          <a:p>
            <a:r>
              <a:rPr lang="en-GB" dirty="0"/>
              <a:t>Spatial (geographic coordinates), </a:t>
            </a:r>
          </a:p>
          <a:p>
            <a:r>
              <a:rPr lang="en-GB" dirty="0"/>
              <a:t>Hierarchical (organisational structures), Textual (documents).</a:t>
            </a:r>
          </a:p>
          <a:p>
            <a:r>
              <a:rPr lang="en-GB" b="1" dirty="0"/>
              <a:t>Textual/Multimedia:</a:t>
            </a:r>
            <a:r>
              <a:rPr lang="en-GB" dirty="0"/>
              <a:t> free text, images, video</a:t>
            </a:r>
          </a:p>
          <a:p>
            <a:endParaRPr lang="en-GB" dirty="0"/>
          </a:p>
        </p:txBody>
      </p:sp>
    </p:spTree>
    <p:extLst>
      <p:ext uri="{BB962C8B-B14F-4D97-AF65-F5344CB8AC3E}">
        <p14:creationId xmlns:p14="http://schemas.microsoft.com/office/powerpoint/2010/main" val="2946641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78B71-694F-D6FE-F1A9-20F3C13938AC}"/>
              </a:ext>
            </a:extLst>
          </p:cNvPr>
          <p:cNvSpPr>
            <a:spLocks noGrp="1"/>
          </p:cNvSpPr>
          <p:nvPr>
            <p:ph type="title"/>
          </p:nvPr>
        </p:nvSpPr>
        <p:spPr/>
        <p:txBody>
          <a:bodyPr/>
          <a:lstStyle/>
          <a:p>
            <a:r>
              <a:rPr lang="en-GB" dirty="0"/>
              <a:t>Data Relationships and Data Behaviours</a:t>
            </a:r>
          </a:p>
        </p:txBody>
      </p:sp>
      <p:sp>
        <p:nvSpPr>
          <p:cNvPr id="3" name="Content Placeholder 2">
            <a:extLst>
              <a:ext uri="{FF2B5EF4-FFF2-40B4-BE49-F238E27FC236}">
                <a16:creationId xmlns:a16="http://schemas.microsoft.com/office/drawing/2014/main" id="{514716FB-66CB-89C7-7FB0-71AF0C538118}"/>
              </a:ext>
            </a:extLst>
          </p:cNvPr>
          <p:cNvSpPr>
            <a:spLocks noGrp="1"/>
          </p:cNvSpPr>
          <p:nvPr>
            <p:ph idx="1"/>
          </p:nvPr>
        </p:nvSpPr>
        <p:spPr>
          <a:xfrm>
            <a:off x="677333" y="1308295"/>
            <a:ext cx="11083258" cy="5549705"/>
          </a:xfrm>
        </p:spPr>
        <p:txBody>
          <a:bodyPr>
            <a:normAutofit/>
          </a:bodyPr>
          <a:lstStyle/>
          <a:p>
            <a:pPr marL="0" indent="0">
              <a:buNone/>
            </a:pPr>
            <a:r>
              <a:rPr lang="en-GB" b="1" dirty="0"/>
              <a:t>Data Relationships</a:t>
            </a:r>
          </a:p>
          <a:p>
            <a:pPr>
              <a:buFont typeface="Wingdings" panose="05000000000000000000" pitchFamily="2" charset="2"/>
              <a:buChar char="Ø"/>
            </a:pPr>
            <a:r>
              <a:rPr lang="en-GB" b="1" dirty="0"/>
              <a:t>One-to-One:</a:t>
            </a:r>
            <a:r>
              <a:rPr lang="en-GB" dirty="0"/>
              <a:t> each record matches a unique partner e.g. citizen ↔ national ID.</a:t>
            </a:r>
          </a:p>
          <a:p>
            <a:pPr>
              <a:buFont typeface="Wingdings" panose="05000000000000000000" pitchFamily="2" charset="2"/>
              <a:buChar char="Ø"/>
            </a:pPr>
            <a:r>
              <a:rPr lang="en-GB" b="1" dirty="0"/>
              <a:t>One-to-Many:</a:t>
            </a:r>
            <a:r>
              <a:rPr lang="en-GB" dirty="0"/>
              <a:t> one entity linked to several </a:t>
            </a:r>
            <a:r>
              <a:rPr lang="en-GB" dirty="0" err="1"/>
              <a:t>eg</a:t>
            </a:r>
            <a:r>
              <a:rPr lang="en-GB" dirty="0"/>
              <a:t> customer ↔ orders.</a:t>
            </a:r>
          </a:p>
          <a:p>
            <a:pPr>
              <a:buFont typeface="Wingdings" panose="05000000000000000000" pitchFamily="2" charset="2"/>
              <a:buChar char="Ø"/>
            </a:pPr>
            <a:r>
              <a:rPr lang="en-GB" b="1" dirty="0"/>
              <a:t>Many-to-Many:</a:t>
            </a:r>
            <a:r>
              <a:rPr lang="en-GB" dirty="0"/>
              <a:t> Entities relate to multiple others </a:t>
            </a:r>
            <a:r>
              <a:rPr lang="en-GB" dirty="0" err="1"/>
              <a:t>eg</a:t>
            </a:r>
            <a:r>
              <a:rPr lang="en-GB" dirty="0"/>
              <a:t> students ↔ courses.</a:t>
            </a:r>
          </a:p>
          <a:p>
            <a:pPr>
              <a:buFont typeface="Wingdings" panose="05000000000000000000" pitchFamily="2" charset="2"/>
              <a:buChar char="Ø"/>
            </a:pPr>
            <a:r>
              <a:rPr lang="en-GB" b="1" dirty="0"/>
              <a:t>Hierarchical (Tree):</a:t>
            </a:r>
            <a:r>
              <a:rPr lang="en-GB" dirty="0"/>
              <a:t> Parent–child relationships </a:t>
            </a:r>
            <a:r>
              <a:rPr lang="en-GB" dirty="0" err="1"/>
              <a:t>eg</a:t>
            </a:r>
            <a:r>
              <a:rPr lang="en-GB" dirty="0"/>
              <a:t> organisation chart.</a:t>
            </a:r>
          </a:p>
          <a:p>
            <a:pPr>
              <a:buFont typeface="Wingdings" panose="05000000000000000000" pitchFamily="2" charset="2"/>
              <a:buChar char="Ø"/>
            </a:pPr>
            <a:r>
              <a:rPr lang="en-GB" b="1" dirty="0"/>
              <a:t>Network (Graph):</a:t>
            </a:r>
            <a:r>
              <a:rPr lang="en-GB" dirty="0"/>
              <a:t> Complex interconnected structures </a:t>
            </a:r>
            <a:r>
              <a:rPr lang="en-GB" dirty="0" err="1"/>
              <a:t>eg</a:t>
            </a:r>
            <a:r>
              <a:rPr lang="en-GB" dirty="0"/>
              <a:t> social network, transport routes.</a:t>
            </a:r>
          </a:p>
          <a:p>
            <a:pPr>
              <a:buFont typeface="Wingdings" panose="05000000000000000000" pitchFamily="2" charset="2"/>
              <a:buChar char="Ø"/>
            </a:pPr>
            <a:r>
              <a:rPr lang="en-GB" b="1" dirty="0"/>
              <a:t>Visual models for these relationships</a:t>
            </a:r>
            <a:r>
              <a:rPr lang="en-GB" dirty="0"/>
              <a:t>: Tables, entity–relationship diagrams, network graphs</a:t>
            </a:r>
          </a:p>
          <a:p>
            <a:pPr marL="0" indent="0">
              <a:buNone/>
            </a:pPr>
            <a:r>
              <a:rPr lang="en-GB" b="1" dirty="0"/>
              <a:t>Data Behaviours</a:t>
            </a:r>
          </a:p>
          <a:p>
            <a:pPr>
              <a:buFont typeface="Wingdings" panose="05000000000000000000" pitchFamily="2" charset="2"/>
              <a:buChar char="Ø"/>
            </a:pPr>
            <a:r>
              <a:rPr lang="en-GB" b="1" dirty="0"/>
              <a:t>Static</a:t>
            </a:r>
            <a:r>
              <a:rPr lang="en-GB" dirty="0"/>
              <a:t>: Fixed snapshot (census data)</a:t>
            </a:r>
          </a:p>
          <a:p>
            <a:pPr>
              <a:buFont typeface="Wingdings" panose="05000000000000000000" pitchFamily="2" charset="2"/>
              <a:buChar char="Ø"/>
            </a:pPr>
            <a:r>
              <a:rPr lang="en-GB" b="1" dirty="0"/>
              <a:t>Dynamic/Streaming</a:t>
            </a:r>
            <a:r>
              <a:rPr lang="en-GB" dirty="0"/>
              <a:t>: Continually updated (sensor feeds, stock prices).</a:t>
            </a:r>
          </a:p>
          <a:p>
            <a:pPr>
              <a:buFont typeface="Wingdings" panose="05000000000000000000" pitchFamily="2" charset="2"/>
              <a:buChar char="Ø"/>
            </a:pPr>
            <a:r>
              <a:rPr lang="en-GB" b="1" dirty="0"/>
              <a:t>Seasonality &amp; Periodicity</a:t>
            </a:r>
            <a:r>
              <a:rPr lang="en-GB" dirty="0"/>
              <a:t>: Regular patterns (retail sales during holidays).</a:t>
            </a:r>
          </a:p>
          <a:p>
            <a:pPr>
              <a:buFont typeface="Wingdings" panose="05000000000000000000" pitchFamily="2" charset="2"/>
              <a:buChar char="Ø"/>
            </a:pPr>
            <a:r>
              <a:rPr lang="en-GB" b="1" dirty="0"/>
              <a:t>Trends</a:t>
            </a:r>
            <a:r>
              <a:rPr lang="en-GB" dirty="0"/>
              <a:t>: Long-term directional movement.</a:t>
            </a:r>
          </a:p>
          <a:p>
            <a:pPr>
              <a:buFont typeface="Wingdings" panose="05000000000000000000" pitchFamily="2" charset="2"/>
              <a:buChar char="Ø"/>
            </a:pPr>
            <a:r>
              <a:rPr lang="en-GB" b="1" dirty="0"/>
              <a:t>Outliers/Anomalies</a:t>
            </a:r>
            <a:r>
              <a:rPr lang="en-GB" dirty="0"/>
              <a:t>: Fraudulent transactions, Deviations that may signal errors or rare events</a:t>
            </a:r>
            <a:endParaRPr lang="en-GB" b="1" dirty="0"/>
          </a:p>
        </p:txBody>
      </p:sp>
    </p:spTree>
    <p:extLst>
      <p:ext uri="{BB962C8B-B14F-4D97-AF65-F5344CB8AC3E}">
        <p14:creationId xmlns:p14="http://schemas.microsoft.com/office/powerpoint/2010/main" val="3207238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06B76-43FE-0CA0-69B4-7DC95017C5CC}"/>
              </a:ext>
            </a:extLst>
          </p:cNvPr>
          <p:cNvSpPr>
            <a:spLocks noGrp="1"/>
          </p:cNvSpPr>
          <p:nvPr>
            <p:ph type="title"/>
          </p:nvPr>
        </p:nvSpPr>
        <p:spPr>
          <a:xfrm>
            <a:off x="621063" y="175847"/>
            <a:ext cx="8596668" cy="738553"/>
          </a:xfrm>
        </p:spPr>
        <p:txBody>
          <a:bodyPr/>
          <a:lstStyle/>
          <a:p>
            <a:r>
              <a:rPr lang="en-GB" dirty="0"/>
              <a:t>THEORY OF DATA VISUALIZATION</a:t>
            </a:r>
          </a:p>
        </p:txBody>
      </p:sp>
      <p:sp>
        <p:nvSpPr>
          <p:cNvPr id="3" name="Content Placeholder 2">
            <a:extLst>
              <a:ext uri="{FF2B5EF4-FFF2-40B4-BE49-F238E27FC236}">
                <a16:creationId xmlns:a16="http://schemas.microsoft.com/office/drawing/2014/main" id="{FB580FF7-A2C5-AD21-6773-F93C3C228F9D}"/>
              </a:ext>
            </a:extLst>
          </p:cNvPr>
          <p:cNvSpPr>
            <a:spLocks noGrp="1"/>
          </p:cNvSpPr>
          <p:nvPr>
            <p:ph idx="1"/>
          </p:nvPr>
        </p:nvSpPr>
        <p:spPr>
          <a:xfrm>
            <a:off x="140677" y="914400"/>
            <a:ext cx="12051323" cy="5943600"/>
          </a:xfrm>
        </p:spPr>
        <p:txBody>
          <a:bodyPr numCol="2">
            <a:normAutofit fontScale="77500" lnSpcReduction="20000"/>
          </a:bodyPr>
          <a:lstStyle/>
          <a:p>
            <a:pPr marL="0" indent="0">
              <a:lnSpc>
                <a:spcPct val="120000"/>
              </a:lnSpc>
              <a:buNone/>
            </a:pPr>
            <a:r>
              <a:rPr lang="en-GB" b="1" dirty="0"/>
              <a:t>Definition &amp; Purpose</a:t>
            </a:r>
          </a:p>
          <a:p>
            <a:pPr>
              <a:lnSpc>
                <a:spcPct val="120000"/>
              </a:lnSpc>
            </a:pPr>
            <a:r>
              <a:rPr lang="en-GB" b="1" dirty="0"/>
              <a:t>Data Visualization</a:t>
            </a:r>
            <a:r>
              <a:rPr lang="en-GB" dirty="0"/>
              <a:t> is the </a:t>
            </a:r>
            <a:r>
              <a:rPr lang="en-GB" i="1" dirty="0"/>
              <a:t>graphical translation of data</a:t>
            </a:r>
            <a:r>
              <a:rPr lang="en-GB" dirty="0"/>
              <a:t> into visual elements that reveal insights not obvious in raw form.</a:t>
            </a:r>
          </a:p>
          <a:p>
            <a:pPr>
              <a:lnSpc>
                <a:spcPct val="120000"/>
              </a:lnSpc>
            </a:pPr>
            <a:r>
              <a:rPr lang="en-GB" dirty="0"/>
              <a:t>Objectives:</a:t>
            </a:r>
          </a:p>
          <a:p>
            <a:pPr lvl="1">
              <a:lnSpc>
                <a:spcPct val="120000"/>
              </a:lnSpc>
            </a:pPr>
            <a:r>
              <a:rPr lang="en-GB" sz="1800" b="1" dirty="0"/>
              <a:t>Exploration</a:t>
            </a:r>
            <a:r>
              <a:rPr lang="en-GB" sz="1800" dirty="0"/>
              <a:t> – discover patterns, trends, anomalies.</a:t>
            </a:r>
          </a:p>
          <a:p>
            <a:pPr lvl="1">
              <a:lnSpc>
                <a:spcPct val="120000"/>
              </a:lnSpc>
            </a:pPr>
            <a:r>
              <a:rPr lang="en-GB" sz="1800" b="1" dirty="0"/>
              <a:t>Explanation</a:t>
            </a:r>
            <a:r>
              <a:rPr lang="en-GB" sz="1800" dirty="0"/>
              <a:t> – communicate findings to stakeholders.</a:t>
            </a:r>
          </a:p>
          <a:p>
            <a:pPr lvl="1">
              <a:lnSpc>
                <a:spcPct val="120000"/>
              </a:lnSpc>
            </a:pPr>
            <a:r>
              <a:rPr lang="en-GB" sz="1800" b="1" dirty="0"/>
              <a:t>Confirmation</a:t>
            </a:r>
            <a:r>
              <a:rPr lang="en-GB" sz="1800" dirty="0"/>
              <a:t> – support or refute hypotheses.</a:t>
            </a:r>
          </a:p>
          <a:p>
            <a:pPr marL="0" indent="0">
              <a:lnSpc>
                <a:spcPct val="120000"/>
              </a:lnSpc>
              <a:buNone/>
            </a:pPr>
            <a:r>
              <a:rPr lang="en-GB" b="1" dirty="0"/>
              <a:t>Human Perceptual &amp; Cognitive Foundations</a:t>
            </a:r>
          </a:p>
          <a:p>
            <a:pPr>
              <a:lnSpc>
                <a:spcPct val="120000"/>
              </a:lnSpc>
            </a:pPr>
            <a:r>
              <a:rPr lang="en-GB" dirty="0"/>
              <a:t>Human vision excels at detecting position, length, and </a:t>
            </a:r>
            <a:r>
              <a:rPr lang="en-GB" dirty="0" err="1"/>
              <a:t>color</a:t>
            </a:r>
            <a:r>
              <a:rPr lang="en-GB" dirty="0"/>
              <a:t> differences.</a:t>
            </a:r>
          </a:p>
          <a:p>
            <a:pPr>
              <a:lnSpc>
                <a:spcPct val="120000"/>
              </a:lnSpc>
            </a:pPr>
            <a:r>
              <a:rPr lang="en-GB" b="1" dirty="0"/>
              <a:t>Pre-attentive Attributes</a:t>
            </a:r>
            <a:r>
              <a:rPr lang="en-GB" dirty="0"/>
              <a:t>: </a:t>
            </a:r>
            <a:r>
              <a:rPr lang="en-GB" dirty="0" err="1"/>
              <a:t>Color</a:t>
            </a:r>
            <a:r>
              <a:rPr lang="en-GB" dirty="0"/>
              <a:t> hue, orientation, size, shape, motion—processed in &lt;200ms.</a:t>
            </a:r>
          </a:p>
          <a:p>
            <a:pPr>
              <a:lnSpc>
                <a:spcPct val="120000"/>
              </a:lnSpc>
            </a:pPr>
            <a:r>
              <a:rPr lang="en-GB" b="1" dirty="0"/>
              <a:t>Gestalt Principles</a:t>
            </a:r>
            <a:r>
              <a:rPr lang="en-GB" dirty="0"/>
              <a:t>:</a:t>
            </a:r>
          </a:p>
          <a:p>
            <a:pPr lvl="1">
              <a:lnSpc>
                <a:spcPct val="120000"/>
              </a:lnSpc>
            </a:pPr>
            <a:r>
              <a:rPr lang="en-GB" sz="1800" i="1" dirty="0"/>
              <a:t>Proximity</a:t>
            </a:r>
            <a:r>
              <a:rPr lang="en-GB" sz="1800" dirty="0"/>
              <a:t>: elements close together are perceived as a group.</a:t>
            </a:r>
          </a:p>
          <a:p>
            <a:pPr lvl="1">
              <a:lnSpc>
                <a:spcPct val="120000"/>
              </a:lnSpc>
            </a:pPr>
            <a:r>
              <a:rPr lang="en-GB" sz="1800" i="1" dirty="0"/>
              <a:t>Similarity</a:t>
            </a:r>
            <a:r>
              <a:rPr lang="en-GB" sz="1800" dirty="0"/>
              <a:t>: similar </a:t>
            </a:r>
            <a:r>
              <a:rPr lang="en-GB" sz="1800" dirty="0" err="1"/>
              <a:t>color</a:t>
            </a:r>
            <a:r>
              <a:rPr lang="en-GB" sz="1800" dirty="0"/>
              <a:t>/shape grouped together.</a:t>
            </a:r>
          </a:p>
          <a:p>
            <a:pPr lvl="1">
              <a:lnSpc>
                <a:spcPct val="120000"/>
              </a:lnSpc>
            </a:pPr>
            <a:r>
              <a:rPr lang="en-GB" sz="1800" i="1" dirty="0"/>
              <a:t>Continuity &amp; Closure</a:t>
            </a:r>
            <a:r>
              <a:rPr lang="en-GB" sz="1800" dirty="0"/>
              <a:t>: mind fills gaps to perceive continuous forms.</a:t>
            </a:r>
          </a:p>
          <a:p>
            <a:pPr>
              <a:lnSpc>
                <a:spcPct val="120000"/>
              </a:lnSpc>
            </a:pPr>
            <a:r>
              <a:rPr lang="en-GB" b="1" dirty="0"/>
              <a:t>Class Demo:</a:t>
            </a:r>
            <a:r>
              <a:rPr lang="en-GB" dirty="0"/>
              <a:t> Flash a complex chart for 200ms and ask students what stood out.</a:t>
            </a:r>
          </a:p>
          <a:p>
            <a:pPr marL="0" indent="0">
              <a:lnSpc>
                <a:spcPct val="120000"/>
              </a:lnSpc>
              <a:buNone/>
            </a:pPr>
            <a:r>
              <a:rPr lang="en-GB" b="1" dirty="0"/>
              <a:t>The Visualization Pipeline</a:t>
            </a:r>
          </a:p>
          <a:p>
            <a:pPr>
              <a:lnSpc>
                <a:spcPct val="120000"/>
              </a:lnSpc>
            </a:pPr>
            <a:r>
              <a:rPr lang="en-GB" b="1" dirty="0"/>
              <a:t>Data Acquisition &amp; Cleaning</a:t>
            </a:r>
            <a:r>
              <a:rPr lang="en-GB" dirty="0"/>
              <a:t>: Remove inconsistencies, handle missing values.</a:t>
            </a:r>
          </a:p>
          <a:p>
            <a:pPr>
              <a:lnSpc>
                <a:spcPct val="120000"/>
              </a:lnSpc>
            </a:pPr>
            <a:r>
              <a:rPr lang="en-GB" b="1" dirty="0"/>
              <a:t>Data Transformation</a:t>
            </a:r>
            <a:r>
              <a:rPr lang="en-GB" dirty="0"/>
              <a:t>: Aggregation, normalization, dimensionality reduction.</a:t>
            </a:r>
          </a:p>
          <a:p>
            <a:pPr>
              <a:lnSpc>
                <a:spcPct val="120000"/>
              </a:lnSpc>
            </a:pPr>
            <a:r>
              <a:rPr lang="en-GB" b="1" dirty="0"/>
              <a:t>Visual Mapping</a:t>
            </a:r>
            <a:r>
              <a:rPr lang="en-GB" dirty="0"/>
              <a:t>: Encoding attributes to marks (points, lines, bars) and channels (x/y position, </a:t>
            </a:r>
            <a:r>
              <a:rPr lang="en-GB" dirty="0" err="1"/>
              <a:t>color</a:t>
            </a:r>
            <a:r>
              <a:rPr lang="en-GB" dirty="0"/>
              <a:t>, size).</a:t>
            </a:r>
          </a:p>
          <a:p>
            <a:pPr>
              <a:lnSpc>
                <a:spcPct val="120000"/>
              </a:lnSpc>
            </a:pPr>
            <a:r>
              <a:rPr lang="en-GB" b="1" dirty="0"/>
              <a:t>Rendering &amp; Interaction</a:t>
            </a:r>
            <a:r>
              <a:rPr lang="en-GB" dirty="0"/>
              <a:t>: Produce static or dynamic visuals with interactive features (zoom, filter, hover).</a:t>
            </a:r>
          </a:p>
          <a:p>
            <a:pPr marL="0" indent="0">
              <a:lnSpc>
                <a:spcPct val="120000"/>
              </a:lnSpc>
              <a:buNone/>
            </a:pPr>
            <a:r>
              <a:rPr lang="en-GB" b="1" dirty="0"/>
              <a:t>Design Principles</a:t>
            </a:r>
          </a:p>
          <a:p>
            <a:pPr>
              <a:lnSpc>
                <a:spcPct val="120000"/>
              </a:lnSpc>
            </a:pPr>
            <a:r>
              <a:rPr lang="en-GB" b="1" dirty="0"/>
              <a:t>Expressiveness</a:t>
            </a:r>
            <a:r>
              <a:rPr lang="en-GB" dirty="0"/>
              <a:t>: Show all and only the relevant information.</a:t>
            </a:r>
          </a:p>
          <a:p>
            <a:pPr>
              <a:lnSpc>
                <a:spcPct val="120000"/>
              </a:lnSpc>
            </a:pPr>
            <a:r>
              <a:rPr lang="en-GB" b="1" dirty="0"/>
              <a:t>Effectiveness</a:t>
            </a:r>
            <a:r>
              <a:rPr lang="en-GB" dirty="0"/>
              <a:t>: Choose visual encodings suited to the data type and analytic task.</a:t>
            </a:r>
          </a:p>
          <a:p>
            <a:pPr>
              <a:lnSpc>
                <a:spcPct val="120000"/>
              </a:lnSpc>
            </a:pPr>
            <a:r>
              <a:rPr lang="en-GB" b="1" dirty="0"/>
              <a:t>Clarity &amp; Simplicity</a:t>
            </a:r>
            <a:r>
              <a:rPr lang="en-GB" dirty="0"/>
              <a:t>: Maximize “data-ink ratio” (Edward Tufte).</a:t>
            </a:r>
          </a:p>
          <a:p>
            <a:pPr>
              <a:lnSpc>
                <a:spcPct val="120000"/>
              </a:lnSpc>
            </a:pPr>
            <a:r>
              <a:rPr lang="en-GB" b="1" dirty="0"/>
              <a:t>Context &amp; Audience</a:t>
            </a:r>
            <a:r>
              <a:rPr lang="en-GB" dirty="0"/>
              <a:t>: Technical vs. non-technical viewers require different complexity.</a:t>
            </a:r>
          </a:p>
          <a:p>
            <a:pPr>
              <a:lnSpc>
                <a:spcPct val="120000"/>
              </a:lnSpc>
            </a:pPr>
            <a:r>
              <a:rPr lang="en-GB" b="1" dirty="0"/>
              <a:t>Ethics</a:t>
            </a:r>
            <a:r>
              <a:rPr lang="en-GB" dirty="0"/>
              <a:t>: Avoid misleading scales, truncations, or cherry-picked data.</a:t>
            </a:r>
          </a:p>
          <a:p>
            <a:endParaRPr lang="en-GB" dirty="0"/>
          </a:p>
        </p:txBody>
      </p:sp>
    </p:spTree>
    <p:extLst>
      <p:ext uri="{BB962C8B-B14F-4D97-AF65-F5344CB8AC3E}">
        <p14:creationId xmlns:p14="http://schemas.microsoft.com/office/powerpoint/2010/main" val="2328042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C75A2-3E9D-67D8-9784-0C8E6D66B63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38858A9-2AD6-9B79-FE48-AE5280EC52F4}"/>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639531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45656-EE0D-E9C8-F6B8-D27028BB59B5}"/>
              </a:ext>
            </a:extLst>
          </p:cNvPr>
          <p:cNvSpPr>
            <a:spLocks noGrp="1"/>
          </p:cNvSpPr>
          <p:nvPr>
            <p:ph type="title"/>
          </p:nvPr>
        </p:nvSpPr>
        <p:spPr>
          <a:xfrm>
            <a:off x="677334" y="609600"/>
            <a:ext cx="8596668" cy="839372"/>
          </a:xfrm>
        </p:spPr>
        <p:txBody>
          <a:bodyPr>
            <a:normAutofit fontScale="90000"/>
          </a:bodyPr>
          <a:lstStyle/>
          <a:p>
            <a:r>
              <a:rPr lang="en-GB" dirty="0"/>
              <a:t>What is data visualization?</a:t>
            </a:r>
            <a:br>
              <a:rPr lang="en-GB" dirty="0"/>
            </a:br>
            <a:endParaRPr lang="en-GB" dirty="0"/>
          </a:p>
        </p:txBody>
      </p:sp>
      <p:sp>
        <p:nvSpPr>
          <p:cNvPr id="3" name="Content Placeholder 2">
            <a:extLst>
              <a:ext uri="{FF2B5EF4-FFF2-40B4-BE49-F238E27FC236}">
                <a16:creationId xmlns:a16="http://schemas.microsoft.com/office/drawing/2014/main" id="{185E5BDA-6231-B284-03B5-192CDB795F7D}"/>
              </a:ext>
            </a:extLst>
          </p:cNvPr>
          <p:cNvSpPr>
            <a:spLocks noGrp="1"/>
          </p:cNvSpPr>
          <p:nvPr>
            <p:ph idx="1"/>
          </p:nvPr>
        </p:nvSpPr>
        <p:spPr>
          <a:xfrm>
            <a:off x="140677" y="1294228"/>
            <a:ext cx="12224825" cy="5134707"/>
          </a:xfrm>
        </p:spPr>
        <p:txBody>
          <a:bodyPr/>
          <a:lstStyle/>
          <a:p>
            <a:r>
              <a:rPr lang="en-GB" dirty="0"/>
              <a:t>Data visualization is the </a:t>
            </a:r>
            <a:r>
              <a:rPr lang="en-GB" b="1" dirty="0"/>
              <a:t>graphical representation </a:t>
            </a:r>
            <a:r>
              <a:rPr lang="en-GB" dirty="0"/>
              <a:t>of </a:t>
            </a:r>
            <a:r>
              <a:rPr lang="en-GB" b="1" dirty="0"/>
              <a:t>information and data</a:t>
            </a:r>
            <a:r>
              <a:rPr lang="en-GB" dirty="0"/>
              <a:t>. </a:t>
            </a:r>
          </a:p>
          <a:p>
            <a:r>
              <a:rPr lang="en-GB" dirty="0"/>
              <a:t>It uses visual elements like </a:t>
            </a:r>
            <a:r>
              <a:rPr lang="en-GB" b="1" dirty="0"/>
              <a:t>charts, graphs, and maps </a:t>
            </a:r>
            <a:r>
              <a:rPr lang="en-GB" dirty="0"/>
              <a:t>to provide an accessible way to see and understand </a:t>
            </a:r>
            <a:r>
              <a:rPr lang="en-GB" b="1" dirty="0"/>
              <a:t>trends, outliers, and patterns in data.</a:t>
            </a:r>
          </a:p>
          <a:p>
            <a:r>
              <a:rPr lang="en-GB" dirty="0"/>
              <a:t>With large amounts of data in every industry, visualization helps spot patterns and trends quickly, leading to faster and smarter decisions.</a:t>
            </a:r>
          </a:p>
          <a:p>
            <a:r>
              <a:rPr lang="en-GB" dirty="0"/>
              <a:t>In the world of </a:t>
            </a:r>
            <a:r>
              <a:rPr lang="en-GB" b="1" dirty="0"/>
              <a:t>Big Data</a:t>
            </a:r>
            <a:r>
              <a:rPr lang="en-GB" dirty="0"/>
              <a:t>, data visualization tools and technologies are essential to </a:t>
            </a:r>
            <a:r>
              <a:rPr lang="en-GB" dirty="0" err="1"/>
              <a:t>analyze</a:t>
            </a:r>
            <a:r>
              <a:rPr lang="en-GB" dirty="0"/>
              <a:t> massive amounts of information and make </a:t>
            </a:r>
            <a:r>
              <a:rPr lang="en-GB" b="1" dirty="0"/>
              <a:t>data-driven decisi</a:t>
            </a:r>
            <a:r>
              <a:rPr lang="en-GB" dirty="0"/>
              <a:t>ons.</a:t>
            </a:r>
          </a:p>
          <a:p>
            <a:endParaRPr lang="en-GB" dirty="0"/>
          </a:p>
        </p:txBody>
      </p:sp>
      <p:pic>
        <p:nvPicPr>
          <p:cNvPr id="5" name="Picture 4">
            <a:extLst>
              <a:ext uri="{FF2B5EF4-FFF2-40B4-BE49-F238E27FC236}">
                <a16:creationId xmlns:a16="http://schemas.microsoft.com/office/drawing/2014/main" id="{784DFF94-34F6-0BA7-F022-3114DFD49A29}"/>
              </a:ext>
            </a:extLst>
          </p:cNvPr>
          <p:cNvPicPr>
            <a:picLocks noChangeAspect="1"/>
          </p:cNvPicPr>
          <p:nvPr/>
        </p:nvPicPr>
        <p:blipFill>
          <a:blip r:embed="rId2"/>
          <a:stretch>
            <a:fillRect/>
          </a:stretch>
        </p:blipFill>
        <p:spPr>
          <a:xfrm>
            <a:off x="3263704" y="3768444"/>
            <a:ext cx="6010297" cy="3005149"/>
          </a:xfrm>
          <a:prstGeom prst="rect">
            <a:avLst/>
          </a:prstGeom>
        </p:spPr>
      </p:pic>
    </p:spTree>
    <p:extLst>
      <p:ext uri="{BB962C8B-B14F-4D97-AF65-F5344CB8AC3E}">
        <p14:creationId xmlns:p14="http://schemas.microsoft.com/office/powerpoint/2010/main" val="281350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2650F-7FAE-5B16-672D-036D25BCB685}"/>
              </a:ext>
            </a:extLst>
          </p:cNvPr>
          <p:cNvSpPr>
            <a:spLocks noGrp="1"/>
          </p:cNvSpPr>
          <p:nvPr>
            <p:ph type="title"/>
          </p:nvPr>
        </p:nvSpPr>
        <p:spPr>
          <a:xfrm>
            <a:off x="747672" y="187569"/>
            <a:ext cx="8596668" cy="853440"/>
          </a:xfrm>
        </p:spPr>
        <p:txBody>
          <a:bodyPr>
            <a:normAutofit fontScale="90000"/>
          </a:bodyPr>
          <a:lstStyle/>
          <a:p>
            <a:r>
              <a:rPr lang="en-GB" dirty="0"/>
              <a:t>Why Visualize Data?</a:t>
            </a:r>
            <a:br>
              <a:rPr lang="en-GB" dirty="0"/>
            </a:br>
            <a:endParaRPr lang="en-GB" dirty="0"/>
          </a:p>
        </p:txBody>
      </p:sp>
      <p:sp>
        <p:nvSpPr>
          <p:cNvPr id="3" name="Content Placeholder 2">
            <a:extLst>
              <a:ext uri="{FF2B5EF4-FFF2-40B4-BE49-F238E27FC236}">
                <a16:creationId xmlns:a16="http://schemas.microsoft.com/office/drawing/2014/main" id="{C64A179E-A810-E2C9-96F7-543B1819611F}"/>
              </a:ext>
            </a:extLst>
          </p:cNvPr>
          <p:cNvSpPr>
            <a:spLocks noGrp="1"/>
          </p:cNvSpPr>
          <p:nvPr>
            <p:ph idx="1"/>
          </p:nvPr>
        </p:nvSpPr>
        <p:spPr>
          <a:xfrm>
            <a:off x="407963" y="872198"/>
            <a:ext cx="10649243" cy="5985804"/>
          </a:xfrm>
        </p:spPr>
        <p:txBody>
          <a:bodyPr/>
          <a:lstStyle/>
          <a:p>
            <a:r>
              <a:rPr lang="en-GB" b="1" dirty="0"/>
              <a:t>Data visualization </a:t>
            </a:r>
            <a:r>
              <a:rPr lang="en-GB" dirty="0"/>
              <a:t>is a way you can </a:t>
            </a:r>
            <a:r>
              <a:rPr lang="en-GB" b="1" dirty="0"/>
              <a:t>create a story </a:t>
            </a:r>
            <a:r>
              <a:rPr lang="en-GB" dirty="0"/>
              <a:t>through </a:t>
            </a:r>
            <a:r>
              <a:rPr lang="en-GB" b="1" dirty="0"/>
              <a:t>your data</a:t>
            </a:r>
            <a:r>
              <a:rPr lang="en-GB" dirty="0"/>
              <a:t>. </a:t>
            </a:r>
          </a:p>
          <a:p>
            <a:r>
              <a:rPr lang="en-GB" dirty="0"/>
              <a:t>When data is </a:t>
            </a:r>
            <a:r>
              <a:rPr lang="en-GB" b="1" dirty="0"/>
              <a:t>complex and understanding the micro-details is ess</a:t>
            </a:r>
            <a:r>
              <a:rPr lang="en-GB" dirty="0"/>
              <a:t>ential, the best way is to </a:t>
            </a:r>
            <a:r>
              <a:rPr lang="en-GB" b="1" dirty="0" err="1"/>
              <a:t>analyze</a:t>
            </a:r>
            <a:r>
              <a:rPr lang="en-GB" b="1" dirty="0"/>
              <a:t> data through visuals</a:t>
            </a:r>
            <a:r>
              <a:rPr lang="en-GB" dirty="0"/>
              <a:t>.</a:t>
            </a:r>
          </a:p>
          <a:p>
            <a:r>
              <a:rPr lang="en-GB" dirty="0"/>
              <a:t>Visuals can be used for two purposes:</a:t>
            </a:r>
          </a:p>
          <a:p>
            <a:pPr lvl="1"/>
            <a:r>
              <a:rPr lang="en-GB" b="1" dirty="0"/>
              <a:t>Exploratory data analysis:</a:t>
            </a:r>
            <a:r>
              <a:rPr lang="en-GB" dirty="0"/>
              <a:t> This is used by data analysts, statisticians, and data scientists to better understand data. As it is rightly called, it is used to explore the hidden trends, patterns in data.</a:t>
            </a:r>
          </a:p>
          <a:p>
            <a:pPr lvl="1"/>
            <a:r>
              <a:rPr lang="en-GB" b="1" dirty="0"/>
              <a:t>Explanatory data analysis:</a:t>
            </a:r>
            <a:r>
              <a:rPr lang="en-GB" dirty="0"/>
              <a:t> Once the analysts understand the data and find their results, the best way to convey their ideas and findings is through visuals! This is used to craft a story that will appeal to the viewer offering deeper insights.</a:t>
            </a:r>
          </a:p>
          <a:p>
            <a:r>
              <a:rPr lang="en-GB" b="1" dirty="0"/>
              <a:t>Big data </a:t>
            </a:r>
            <a:r>
              <a:rPr lang="en-GB" dirty="0"/>
              <a:t>refers to extremely </a:t>
            </a:r>
            <a:r>
              <a:rPr lang="en-GB" b="1" dirty="0"/>
              <a:t>large datasets </a:t>
            </a:r>
            <a:r>
              <a:rPr lang="en-GB" dirty="0"/>
              <a:t>that are often beyond the ability of </a:t>
            </a:r>
            <a:r>
              <a:rPr lang="en-GB" b="1" dirty="0"/>
              <a:t>traditional data-processing software to handle.</a:t>
            </a:r>
          </a:p>
          <a:p>
            <a:r>
              <a:rPr lang="en-GB" dirty="0"/>
              <a:t>By transforming </a:t>
            </a:r>
            <a:r>
              <a:rPr lang="en-GB" b="1" dirty="0"/>
              <a:t>big data</a:t>
            </a:r>
            <a:r>
              <a:rPr lang="en-GB" dirty="0"/>
              <a:t> into visual formats, </a:t>
            </a:r>
            <a:r>
              <a:rPr lang="en-GB" b="1" u="sng" dirty="0"/>
              <a:t>data visualization tools </a:t>
            </a:r>
            <a:r>
              <a:rPr lang="en-GB" dirty="0"/>
              <a:t>allow us to comprehend complex data and make data-driven decisions effectively.</a:t>
            </a:r>
          </a:p>
          <a:p>
            <a:r>
              <a:rPr lang="en-GB" dirty="0"/>
              <a:t>These datasets can come from various sources such as </a:t>
            </a:r>
            <a:r>
              <a:rPr lang="en-GB" b="1" dirty="0"/>
              <a:t>social media, business transactions, or machine-to-machine data. </a:t>
            </a:r>
          </a:p>
          <a:p>
            <a:r>
              <a:rPr lang="en-GB" b="1" dirty="0"/>
              <a:t>Big data </a:t>
            </a:r>
            <a:r>
              <a:rPr lang="en-GB" dirty="0"/>
              <a:t>is characterized by its </a:t>
            </a:r>
            <a:r>
              <a:rPr lang="en-GB" b="1" dirty="0"/>
              <a:t>volume, variety, velocity, and veracity (the 4Vs).</a:t>
            </a:r>
          </a:p>
        </p:txBody>
      </p:sp>
    </p:spTree>
    <p:extLst>
      <p:ext uri="{BB962C8B-B14F-4D97-AF65-F5344CB8AC3E}">
        <p14:creationId xmlns:p14="http://schemas.microsoft.com/office/powerpoint/2010/main" val="1459527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902E-A601-4FFF-8B7F-EB6D744E46C7}"/>
              </a:ext>
            </a:extLst>
          </p:cNvPr>
          <p:cNvSpPr>
            <a:spLocks noGrp="1"/>
          </p:cNvSpPr>
          <p:nvPr>
            <p:ph type="title"/>
          </p:nvPr>
        </p:nvSpPr>
        <p:spPr/>
        <p:txBody>
          <a:bodyPr/>
          <a:lstStyle/>
          <a:p>
            <a:r>
              <a:rPr lang="en-GB" b="1" dirty="0"/>
              <a:t>Importance of Data Visualization</a:t>
            </a:r>
            <a:br>
              <a:rPr lang="en-GB" b="1" dirty="0"/>
            </a:br>
            <a:endParaRPr lang="en-GB" dirty="0"/>
          </a:p>
        </p:txBody>
      </p:sp>
      <p:sp>
        <p:nvSpPr>
          <p:cNvPr id="3" name="Content Placeholder 2">
            <a:extLst>
              <a:ext uri="{FF2B5EF4-FFF2-40B4-BE49-F238E27FC236}">
                <a16:creationId xmlns:a16="http://schemas.microsoft.com/office/drawing/2014/main" id="{9E8351B7-20B9-F98C-1215-D5C02B826A26}"/>
              </a:ext>
            </a:extLst>
          </p:cNvPr>
          <p:cNvSpPr>
            <a:spLocks noGrp="1"/>
          </p:cNvSpPr>
          <p:nvPr>
            <p:ph idx="1"/>
          </p:nvPr>
        </p:nvSpPr>
        <p:spPr>
          <a:xfrm>
            <a:off x="677333" y="1392702"/>
            <a:ext cx="11069189" cy="4994029"/>
          </a:xfrm>
        </p:spPr>
        <p:txBody>
          <a:bodyPr>
            <a:normAutofit/>
          </a:bodyPr>
          <a:lstStyle/>
          <a:p>
            <a:r>
              <a:rPr lang="en-GB" b="1" dirty="0"/>
              <a:t>Simplification</a:t>
            </a:r>
            <a:r>
              <a:rPr lang="en-GB" dirty="0"/>
              <a:t>: Big data is complex. Data visualization simplifies this complexity by representing data in a more digestible format.</a:t>
            </a:r>
          </a:p>
          <a:p>
            <a:r>
              <a:rPr lang="en-GB" b="1" dirty="0"/>
              <a:t>Quick Insights</a:t>
            </a:r>
            <a:r>
              <a:rPr lang="en-GB" dirty="0"/>
              <a:t>: Visual data allows for faster absorption of information, enabling quick identification of patterns and trends that might go unnoticed in text-based data.</a:t>
            </a:r>
          </a:p>
          <a:p>
            <a:r>
              <a:rPr lang="en-GB" b="1" dirty="0"/>
              <a:t>Better Decision Making</a:t>
            </a:r>
            <a:r>
              <a:rPr lang="en-GB" dirty="0"/>
              <a:t>: By making data more understandable, data visualization supports better decision-making, allowing businesses to act on insights more quickly.</a:t>
            </a:r>
          </a:p>
          <a:p>
            <a:r>
              <a:rPr lang="en-GB" b="1" dirty="0"/>
              <a:t>Interactive Exploration</a:t>
            </a:r>
            <a:r>
              <a:rPr lang="en-GB" dirty="0"/>
              <a:t>: Many data visualization tools offer interactive features that allow users to manipulate variables and explore different views of the data.</a:t>
            </a:r>
          </a:p>
          <a:p>
            <a:r>
              <a:rPr lang="en-GB" b="1" dirty="0"/>
              <a:t>Storytelling</a:t>
            </a:r>
            <a:r>
              <a:rPr lang="en-GB" dirty="0"/>
              <a:t>: Data visualization can turn data into a story, making the information more engaging and easier to remember.</a:t>
            </a:r>
          </a:p>
          <a:p>
            <a:r>
              <a:rPr lang="en-GB" b="1" dirty="0"/>
              <a:t>Saves Time:</a:t>
            </a:r>
            <a:r>
              <a:rPr lang="en-GB" dirty="0"/>
              <a:t> Visuals allow quicker interpretation of data, helping users spot key information at a glance instead of manually scanning through numbers.</a:t>
            </a:r>
          </a:p>
          <a:p>
            <a:r>
              <a:rPr lang="en-GB" b="1" dirty="0"/>
              <a:t>Improves Communication:</a:t>
            </a:r>
            <a:r>
              <a:rPr lang="en-GB" dirty="0"/>
              <a:t> It makes it easier to explain data insights to others, especially those who may not be familiar with the technical details.</a:t>
            </a:r>
          </a:p>
          <a:p>
            <a:endParaRPr lang="en-GB" dirty="0"/>
          </a:p>
          <a:p>
            <a:endParaRPr lang="en-GB" dirty="0"/>
          </a:p>
        </p:txBody>
      </p:sp>
    </p:spTree>
    <p:extLst>
      <p:ext uri="{BB962C8B-B14F-4D97-AF65-F5344CB8AC3E}">
        <p14:creationId xmlns:p14="http://schemas.microsoft.com/office/powerpoint/2010/main" val="414115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E8C71-CF43-3F29-6C8D-ED2AC0835FC2}"/>
              </a:ext>
            </a:extLst>
          </p:cNvPr>
          <p:cNvSpPr>
            <a:spLocks noGrp="1"/>
          </p:cNvSpPr>
          <p:nvPr>
            <p:ph type="title"/>
          </p:nvPr>
        </p:nvSpPr>
        <p:spPr>
          <a:xfrm>
            <a:off x="1535463" y="147711"/>
            <a:ext cx="8596668" cy="670560"/>
          </a:xfrm>
        </p:spPr>
        <p:txBody>
          <a:bodyPr>
            <a:normAutofit fontScale="90000"/>
          </a:bodyPr>
          <a:lstStyle/>
          <a:p>
            <a:r>
              <a:rPr lang="en-GB" b="1" dirty="0"/>
              <a:t>Types of Data Visualization</a:t>
            </a:r>
            <a:br>
              <a:rPr lang="en-GB" b="1" dirty="0"/>
            </a:br>
            <a:endParaRPr lang="en-GB" dirty="0"/>
          </a:p>
        </p:txBody>
      </p:sp>
      <p:sp>
        <p:nvSpPr>
          <p:cNvPr id="3" name="Content Placeholder 2">
            <a:extLst>
              <a:ext uri="{FF2B5EF4-FFF2-40B4-BE49-F238E27FC236}">
                <a16:creationId xmlns:a16="http://schemas.microsoft.com/office/drawing/2014/main" id="{007C04AA-1A21-715C-4716-DD3AA297AB95}"/>
              </a:ext>
            </a:extLst>
          </p:cNvPr>
          <p:cNvSpPr>
            <a:spLocks noGrp="1"/>
          </p:cNvSpPr>
          <p:nvPr>
            <p:ph idx="1"/>
          </p:nvPr>
        </p:nvSpPr>
        <p:spPr>
          <a:xfrm>
            <a:off x="281355" y="703386"/>
            <a:ext cx="11465168" cy="6006904"/>
          </a:xfrm>
        </p:spPr>
        <p:txBody>
          <a:bodyPr numCol="2">
            <a:normAutofit fontScale="85000" lnSpcReduction="20000"/>
          </a:bodyPr>
          <a:lstStyle/>
          <a:p>
            <a:pPr marL="0" indent="0">
              <a:buNone/>
            </a:pPr>
            <a:r>
              <a:rPr lang="en-GB" b="1" dirty="0">
                <a:solidFill>
                  <a:srgbClr val="FF0000"/>
                </a:solidFill>
              </a:rPr>
              <a:t>General Types of Visualizations:</a:t>
            </a:r>
          </a:p>
          <a:p>
            <a:r>
              <a:rPr lang="en-GB" b="1" dirty="0"/>
              <a:t>Chart:</a:t>
            </a:r>
            <a:r>
              <a:rPr lang="en-GB" dirty="0"/>
              <a:t> Information presented in a tabular, graphical form with data displayed along two axes. Can be in the form of a graph, diagram, or map. </a:t>
            </a:r>
            <a:r>
              <a:rPr lang="en-GB" dirty="0">
                <a:hlinkClick r:id="rId2"/>
              </a:rPr>
              <a:t>Learn more.</a:t>
            </a:r>
            <a:endParaRPr lang="en-GB" dirty="0"/>
          </a:p>
          <a:p>
            <a:r>
              <a:rPr lang="en-GB" b="1" dirty="0"/>
              <a:t>Table:</a:t>
            </a:r>
            <a:r>
              <a:rPr lang="en-GB" dirty="0"/>
              <a:t> A set of figures displayed in rows and columns. </a:t>
            </a:r>
            <a:r>
              <a:rPr lang="en-GB" dirty="0">
                <a:hlinkClick r:id="rId3"/>
              </a:rPr>
              <a:t>Learn more.</a:t>
            </a:r>
            <a:endParaRPr lang="en-GB" dirty="0"/>
          </a:p>
          <a:p>
            <a:r>
              <a:rPr lang="en-GB" b="1" dirty="0"/>
              <a:t>Graph:</a:t>
            </a:r>
            <a:r>
              <a:rPr lang="en-GB" dirty="0"/>
              <a:t> A diagram of points, lines, segments, curves, or areas that represents certain variables in comparison to each other, usually along two axes at a right angle. </a:t>
            </a:r>
          </a:p>
          <a:p>
            <a:r>
              <a:rPr lang="en-GB" b="1" dirty="0"/>
              <a:t>Geospatial:</a:t>
            </a:r>
            <a:r>
              <a:rPr lang="en-GB" dirty="0"/>
              <a:t> A visualization that shows data in map form using different shapes and </a:t>
            </a:r>
            <a:r>
              <a:rPr lang="en-GB" dirty="0" err="1"/>
              <a:t>colors</a:t>
            </a:r>
            <a:r>
              <a:rPr lang="en-GB" dirty="0"/>
              <a:t> to show the relationship between pieces of data and specific locations. </a:t>
            </a:r>
            <a:r>
              <a:rPr lang="en-GB" dirty="0">
                <a:hlinkClick r:id="rId4"/>
              </a:rPr>
              <a:t>Learn more.</a:t>
            </a:r>
            <a:r>
              <a:rPr lang="en-GB" dirty="0"/>
              <a:t> </a:t>
            </a:r>
          </a:p>
          <a:p>
            <a:r>
              <a:rPr lang="en-GB" b="1" dirty="0"/>
              <a:t>Infographic: </a:t>
            </a:r>
            <a:r>
              <a:rPr lang="en-GB" dirty="0"/>
              <a:t>A combination of visuals and words that represent data. Usually uses charts or diagrams.</a:t>
            </a:r>
          </a:p>
          <a:p>
            <a:r>
              <a:rPr lang="en-GB" b="1" dirty="0"/>
              <a:t>Dashboards: </a:t>
            </a:r>
            <a:r>
              <a:rPr lang="en-GB" dirty="0"/>
              <a:t>A collection of visualizations and data displayed in one place to help with </a:t>
            </a:r>
            <a:r>
              <a:rPr lang="en-GB" dirty="0" err="1"/>
              <a:t>analyzing</a:t>
            </a:r>
            <a:r>
              <a:rPr lang="en-GB" dirty="0"/>
              <a:t> and presenting data. </a:t>
            </a:r>
            <a:r>
              <a:rPr lang="en-GB" dirty="0">
                <a:hlinkClick r:id="rId5"/>
              </a:rPr>
              <a:t>Learn more.</a:t>
            </a:r>
            <a:endParaRPr lang="en-GB" dirty="0"/>
          </a:p>
          <a:p>
            <a:pPr marL="0" indent="0">
              <a:buNone/>
            </a:pPr>
            <a:r>
              <a:rPr lang="en-GB" b="1" dirty="0">
                <a:solidFill>
                  <a:srgbClr val="FF0000"/>
                </a:solidFill>
              </a:rPr>
              <a:t>More specific examples</a:t>
            </a:r>
          </a:p>
          <a:p>
            <a:r>
              <a:rPr lang="en-GB" b="1" dirty="0"/>
              <a:t>Area Map:</a:t>
            </a:r>
            <a:r>
              <a:rPr lang="en-GB" dirty="0"/>
              <a:t> A form of geospatial visualization, area maps are used to show specific values set over a map of a country, state, county, or any other geographic location. Two common types of area maps are choropleths and isopleths. </a:t>
            </a:r>
            <a:r>
              <a:rPr lang="en-GB" dirty="0">
                <a:hlinkClick r:id="rId6"/>
              </a:rPr>
              <a:t>Learn more.</a:t>
            </a:r>
            <a:endParaRPr lang="en-GB" dirty="0"/>
          </a:p>
          <a:p>
            <a:r>
              <a:rPr lang="en-GB" b="1" dirty="0"/>
              <a:t>Bar Chart:</a:t>
            </a:r>
            <a:r>
              <a:rPr lang="en-GB" dirty="0"/>
              <a:t> Bar charts represent numerical values compared to each other. The length of the bar represents the value of each variable. </a:t>
            </a:r>
            <a:r>
              <a:rPr lang="en-GB" dirty="0">
                <a:hlinkClick r:id="rId7"/>
              </a:rPr>
              <a:t>Learn more. </a:t>
            </a:r>
            <a:endParaRPr lang="en-GB" dirty="0"/>
          </a:p>
          <a:p>
            <a:r>
              <a:rPr lang="en-GB" b="1" dirty="0"/>
              <a:t>Box-and-whisker Plots:</a:t>
            </a:r>
            <a:r>
              <a:rPr lang="en-GB" dirty="0"/>
              <a:t> These show a selection of ranges (the box) across a set measure (the bar). </a:t>
            </a:r>
            <a:r>
              <a:rPr lang="en-GB" dirty="0">
                <a:hlinkClick r:id="rId8"/>
              </a:rPr>
              <a:t>Learn more. </a:t>
            </a:r>
            <a:endParaRPr lang="en-GB" dirty="0"/>
          </a:p>
          <a:p>
            <a:r>
              <a:rPr lang="en-GB" b="1" dirty="0"/>
              <a:t>Bullet Graph: </a:t>
            </a:r>
            <a:r>
              <a:rPr lang="en-GB" dirty="0"/>
              <a:t>A bar marked against a background to show progress or performance against a goal, denoted by a line on the graph. </a:t>
            </a:r>
            <a:r>
              <a:rPr lang="en-GB" dirty="0">
                <a:hlinkClick r:id="rId9"/>
              </a:rPr>
              <a:t>Learn more.</a:t>
            </a:r>
            <a:endParaRPr lang="en-GB" dirty="0"/>
          </a:p>
          <a:p>
            <a:r>
              <a:rPr lang="en-GB" b="1" dirty="0"/>
              <a:t>Gantt Chart:</a:t>
            </a:r>
            <a:r>
              <a:rPr lang="en-GB" dirty="0"/>
              <a:t> Typically used in project management, Gantt charts are a bar chart depiction of timelines and tasks. </a:t>
            </a:r>
            <a:r>
              <a:rPr lang="en-GB" dirty="0">
                <a:hlinkClick r:id="rId10"/>
              </a:rPr>
              <a:t>Learn more. </a:t>
            </a:r>
            <a:endParaRPr lang="en-GB" dirty="0"/>
          </a:p>
          <a:p>
            <a:r>
              <a:rPr lang="en-GB" b="1" dirty="0"/>
              <a:t>Heat Map: </a:t>
            </a:r>
            <a:r>
              <a:rPr lang="en-GB" dirty="0"/>
              <a:t>A type of geospatial visualization in map form which displays specific data values as different </a:t>
            </a:r>
            <a:r>
              <a:rPr lang="en-GB" dirty="0" err="1"/>
              <a:t>colors</a:t>
            </a:r>
            <a:r>
              <a:rPr lang="en-GB" dirty="0"/>
              <a:t> (this doesn’t need to be temperatures, but that is a common use). </a:t>
            </a:r>
            <a:r>
              <a:rPr lang="en-GB" dirty="0">
                <a:hlinkClick r:id="rId11"/>
              </a:rPr>
              <a:t>Learn more.</a:t>
            </a:r>
            <a:endParaRPr lang="en-GB" dirty="0"/>
          </a:p>
          <a:p>
            <a:r>
              <a:rPr lang="en-GB" b="1" dirty="0"/>
              <a:t>Highlight Table:</a:t>
            </a:r>
            <a:r>
              <a:rPr lang="en-GB" dirty="0"/>
              <a:t> A form of table that uses </a:t>
            </a:r>
            <a:r>
              <a:rPr lang="en-GB" dirty="0" err="1"/>
              <a:t>color</a:t>
            </a:r>
            <a:r>
              <a:rPr lang="en-GB" dirty="0"/>
              <a:t> to categorize similar data, allowing the viewer to read it more easily and intuitively. </a:t>
            </a:r>
            <a:r>
              <a:rPr lang="en-GB" dirty="0">
                <a:hlinkClick r:id="rId11"/>
              </a:rPr>
              <a:t>Learn more. </a:t>
            </a:r>
            <a:endParaRPr lang="en-GB" dirty="0"/>
          </a:p>
          <a:p>
            <a:r>
              <a:rPr lang="en-GB" b="1" dirty="0"/>
              <a:t>Histogram: </a:t>
            </a:r>
            <a:r>
              <a:rPr lang="en-GB" dirty="0"/>
              <a:t>A type of bar chart that split a continuous measure into different bins to help </a:t>
            </a:r>
            <a:r>
              <a:rPr lang="en-GB" dirty="0" err="1"/>
              <a:t>analyze</a:t>
            </a:r>
            <a:r>
              <a:rPr lang="en-GB" dirty="0"/>
              <a:t> the distribution. </a:t>
            </a:r>
            <a:r>
              <a:rPr lang="en-GB" dirty="0">
                <a:hlinkClick r:id="rId12"/>
              </a:rPr>
              <a:t>Learn more. </a:t>
            </a:r>
            <a:endParaRPr lang="en-GB" dirty="0"/>
          </a:p>
          <a:p>
            <a:r>
              <a:rPr lang="en-GB" b="1" dirty="0"/>
              <a:t>Pie Chart:</a:t>
            </a:r>
            <a:r>
              <a:rPr lang="en-GB" dirty="0"/>
              <a:t> A circular chart with triangular segments that shows data as a percentage of a whole. </a:t>
            </a:r>
            <a:r>
              <a:rPr lang="en-GB" dirty="0">
                <a:hlinkClick r:id="rId13"/>
              </a:rPr>
              <a:t>Learn more. </a:t>
            </a:r>
            <a:endParaRPr lang="en-GB" dirty="0"/>
          </a:p>
          <a:p>
            <a:r>
              <a:rPr lang="en-GB" b="1" dirty="0" err="1"/>
              <a:t>Treemap</a:t>
            </a:r>
            <a:r>
              <a:rPr lang="en-GB" b="1" dirty="0"/>
              <a:t>: </a:t>
            </a:r>
            <a:r>
              <a:rPr lang="en-GB" dirty="0"/>
              <a:t>A type of chart that shows different, related values in the form of rectangles nested together. </a:t>
            </a:r>
            <a:r>
              <a:rPr lang="en-GB" dirty="0">
                <a:hlinkClick r:id="rId14"/>
              </a:rPr>
              <a:t>Learn more.</a:t>
            </a:r>
            <a:endParaRPr lang="en-GB" dirty="0"/>
          </a:p>
          <a:p>
            <a:endParaRPr lang="en-GB" dirty="0"/>
          </a:p>
        </p:txBody>
      </p:sp>
    </p:spTree>
    <p:extLst>
      <p:ext uri="{BB962C8B-B14F-4D97-AF65-F5344CB8AC3E}">
        <p14:creationId xmlns:p14="http://schemas.microsoft.com/office/powerpoint/2010/main" val="1184216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049A3-E6AA-FB1C-F6DC-B82D4EB6FCAB}"/>
              </a:ext>
            </a:extLst>
          </p:cNvPr>
          <p:cNvSpPr>
            <a:spLocks noGrp="1"/>
          </p:cNvSpPr>
          <p:nvPr>
            <p:ph type="title"/>
          </p:nvPr>
        </p:nvSpPr>
        <p:spPr>
          <a:xfrm>
            <a:off x="916485" y="161779"/>
            <a:ext cx="8596668" cy="1320800"/>
          </a:xfrm>
        </p:spPr>
        <p:txBody>
          <a:bodyPr/>
          <a:lstStyle/>
          <a:p>
            <a:r>
              <a:rPr lang="en-GB" b="1" dirty="0"/>
              <a:t>Main Components of Data Visualization</a:t>
            </a:r>
            <a:br>
              <a:rPr lang="en-GB" b="1" dirty="0"/>
            </a:br>
            <a:endParaRPr lang="en-GB" dirty="0"/>
          </a:p>
        </p:txBody>
      </p:sp>
      <p:sp>
        <p:nvSpPr>
          <p:cNvPr id="3" name="Content Placeholder 2">
            <a:extLst>
              <a:ext uri="{FF2B5EF4-FFF2-40B4-BE49-F238E27FC236}">
                <a16:creationId xmlns:a16="http://schemas.microsoft.com/office/drawing/2014/main" id="{CF26D624-D93E-E10A-4BE8-24BC08BB61D3}"/>
              </a:ext>
            </a:extLst>
          </p:cNvPr>
          <p:cNvSpPr>
            <a:spLocks noGrp="1"/>
          </p:cNvSpPr>
          <p:nvPr>
            <p:ph idx="1"/>
          </p:nvPr>
        </p:nvSpPr>
        <p:spPr>
          <a:xfrm>
            <a:off x="407963" y="984738"/>
            <a:ext cx="11633982" cy="5711483"/>
          </a:xfrm>
        </p:spPr>
        <p:txBody>
          <a:bodyPr numCol="2">
            <a:normAutofit fontScale="85000" lnSpcReduction="10000"/>
          </a:bodyPr>
          <a:lstStyle/>
          <a:p>
            <a:pPr>
              <a:lnSpc>
                <a:spcPct val="120000"/>
              </a:lnSpc>
            </a:pPr>
            <a:r>
              <a:rPr lang="en-GB" b="1" dirty="0">
                <a:solidFill>
                  <a:srgbClr val="FF0000"/>
                </a:solidFill>
              </a:rPr>
              <a:t>1. Data: </a:t>
            </a:r>
            <a:r>
              <a:rPr lang="en-GB" dirty="0"/>
              <a:t>Data can be of any type like numerical data, text data or geospatial data.</a:t>
            </a:r>
          </a:p>
          <a:p>
            <a:pPr>
              <a:lnSpc>
                <a:spcPct val="120000"/>
              </a:lnSpc>
            </a:pPr>
            <a:r>
              <a:rPr lang="en-GB" b="1" dirty="0">
                <a:solidFill>
                  <a:srgbClr val="FF0000"/>
                </a:solidFill>
              </a:rPr>
              <a:t>2. Visual Elements: </a:t>
            </a:r>
            <a:r>
              <a:rPr lang="en-GB" dirty="0"/>
              <a:t>For instance, Graphics, charts, Overlays, diagrams, figures, maps, tables and other types of data presentations and resumes that comprise infographics.</a:t>
            </a:r>
          </a:p>
          <a:p>
            <a:pPr>
              <a:lnSpc>
                <a:spcPct val="120000"/>
              </a:lnSpc>
            </a:pPr>
            <a:r>
              <a:rPr lang="en-GB" b="1" dirty="0">
                <a:solidFill>
                  <a:srgbClr val="FF0000"/>
                </a:solidFill>
              </a:rPr>
              <a:t>3. Visualization Techniques: </a:t>
            </a:r>
            <a:r>
              <a:rPr lang="en-GB" dirty="0"/>
              <a:t>This also includes aspects such as transforming and scaling data, and in some cases indeed selecting the right type of visualization to use.</a:t>
            </a:r>
          </a:p>
          <a:p>
            <a:pPr>
              <a:lnSpc>
                <a:spcPct val="120000"/>
              </a:lnSpc>
            </a:pPr>
            <a:r>
              <a:rPr lang="en-GB" b="1" dirty="0">
                <a:solidFill>
                  <a:srgbClr val="FF0000"/>
                </a:solidFill>
              </a:rPr>
              <a:t>4. Interactivity: </a:t>
            </a:r>
            <a:r>
              <a:rPr lang="en-GB" dirty="0"/>
              <a:t>Influential aspects of visualization which could include; The blinking bubbles whenever the cursor is over a particular part of the graph, zooming up or down the size of the graph, or even rotating the graph and/or options to have the different groups or categories on or off among others.</a:t>
            </a:r>
          </a:p>
          <a:p>
            <a:pPr>
              <a:lnSpc>
                <a:spcPct val="120000"/>
              </a:lnSpc>
            </a:pPr>
            <a:r>
              <a:rPr lang="en-GB" b="1" dirty="0">
                <a:solidFill>
                  <a:srgbClr val="FF0000"/>
                </a:solidFill>
              </a:rPr>
              <a:t>5. </a:t>
            </a:r>
            <a:r>
              <a:rPr lang="en-GB" b="1" dirty="0" err="1">
                <a:solidFill>
                  <a:srgbClr val="FF0000"/>
                </a:solidFill>
              </a:rPr>
              <a:t>Color</a:t>
            </a:r>
            <a:r>
              <a:rPr lang="en-GB" b="1" dirty="0">
                <a:solidFill>
                  <a:srgbClr val="FF0000"/>
                </a:solidFill>
              </a:rPr>
              <a:t> Palette and Design</a:t>
            </a:r>
            <a:r>
              <a:rPr lang="en-GB" dirty="0"/>
              <a:t>: New choices on colour utilization, font selection, position of elements in unison with the style of design to enhance the usability, visibility and the aesthetic appeal of visualization.</a:t>
            </a:r>
          </a:p>
          <a:p>
            <a:pPr>
              <a:lnSpc>
                <a:spcPct val="120000"/>
              </a:lnSpc>
            </a:pPr>
            <a:r>
              <a:rPr lang="en-GB" b="1" dirty="0">
                <a:solidFill>
                  <a:srgbClr val="FF0000"/>
                </a:solidFill>
              </a:rPr>
              <a:t>6. Context and Annotations: </a:t>
            </a:r>
            <a:r>
              <a:rPr lang="en-GB" dirty="0"/>
              <a:t>The additional roles of Titles and Subtitles in the Visualizations and some of the other labels for captions, annotations and legends for further understanding of the analysis.</a:t>
            </a:r>
          </a:p>
          <a:p>
            <a:pPr>
              <a:lnSpc>
                <a:spcPct val="120000"/>
              </a:lnSpc>
            </a:pPr>
            <a:r>
              <a:rPr lang="en-GB" b="1" dirty="0">
                <a:solidFill>
                  <a:srgbClr val="FF0000"/>
                </a:solidFill>
              </a:rPr>
              <a:t>7. Tools and Platforms</a:t>
            </a:r>
            <a:r>
              <a:rPr lang="en-GB" dirty="0"/>
              <a:t>: Some of the prominent ones are Tableau, Power BI and more programming languages and Libraries are D3. </a:t>
            </a:r>
            <a:r>
              <a:rPr lang="en-GB" dirty="0" err="1"/>
              <a:t>js</a:t>
            </a:r>
            <a:r>
              <a:rPr lang="en-GB" dirty="0"/>
              <a:t> ,Matplotlib and more.</a:t>
            </a:r>
          </a:p>
          <a:p>
            <a:pPr>
              <a:lnSpc>
                <a:spcPct val="120000"/>
              </a:lnSpc>
            </a:pPr>
            <a:r>
              <a:rPr lang="en-GB" b="1" dirty="0">
                <a:solidFill>
                  <a:srgbClr val="FF0000"/>
                </a:solidFill>
              </a:rPr>
              <a:t>8. Data Preparation: </a:t>
            </a:r>
            <a:r>
              <a:rPr lang="en-GB" dirty="0"/>
              <a:t>Data preparation which involves cleaning of data, that is, data cleaning processing, data selection, data reshaping and data condensation that gets a data in the right form so that it can be </a:t>
            </a:r>
            <a:r>
              <a:rPr lang="en-GB" dirty="0" err="1"/>
              <a:t>analyzed</a:t>
            </a:r>
            <a:r>
              <a:rPr lang="en-GB" dirty="0"/>
              <a:t> and visualized.</a:t>
            </a:r>
          </a:p>
          <a:p>
            <a:pPr>
              <a:lnSpc>
                <a:spcPct val="120000"/>
              </a:lnSpc>
            </a:pPr>
            <a:r>
              <a:rPr lang="en-GB" b="1" dirty="0">
                <a:solidFill>
                  <a:srgbClr val="FF0000"/>
                </a:solidFill>
              </a:rPr>
              <a:t>9. Data Exploration: </a:t>
            </a:r>
            <a:r>
              <a:rPr lang="en-GB" dirty="0"/>
              <a:t>Simple methods for analysing the data for searching the pattern, trend, noise, similarity and correlation other than the techniques.</a:t>
            </a:r>
          </a:p>
          <a:p>
            <a:pPr>
              <a:lnSpc>
                <a:spcPct val="120000"/>
              </a:lnSpc>
            </a:pPr>
            <a:r>
              <a:rPr lang="en-GB" b="1" dirty="0">
                <a:solidFill>
                  <a:srgbClr val="FF0000"/>
                </a:solidFill>
              </a:rPr>
              <a:t>10. Dashboarding: </a:t>
            </a:r>
            <a:r>
              <a:rPr lang="en-GB" dirty="0"/>
              <a:t>An aggregate display of the two screens to give an overall view of the data collected as well as endlessly monitoring the indicators by having the two tabbed views on the same screen.</a:t>
            </a:r>
          </a:p>
        </p:txBody>
      </p:sp>
    </p:spTree>
    <p:extLst>
      <p:ext uri="{BB962C8B-B14F-4D97-AF65-F5344CB8AC3E}">
        <p14:creationId xmlns:p14="http://schemas.microsoft.com/office/powerpoint/2010/main" val="3076358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DF410-9C3A-4033-EAB1-6F404EEDD70C}"/>
              </a:ext>
            </a:extLst>
          </p:cNvPr>
          <p:cNvSpPr>
            <a:spLocks noGrp="1"/>
          </p:cNvSpPr>
          <p:nvPr>
            <p:ph type="title"/>
          </p:nvPr>
        </p:nvSpPr>
        <p:spPr/>
        <p:txBody>
          <a:bodyPr/>
          <a:lstStyle/>
          <a:p>
            <a:r>
              <a:rPr lang="en-GB" b="1" dirty="0"/>
              <a:t>Challenges in Data Visualization</a:t>
            </a:r>
            <a:br>
              <a:rPr lang="en-GB" b="1" dirty="0"/>
            </a:br>
            <a:endParaRPr lang="en-GB" dirty="0"/>
          </a:p>
        </p:txBody>
      </p:sp>
      <p:sp>
        <p:nvSpPr>
          <p:cNvPr id="3" name="Content Placeholder 2">
            <a:extLst>
              <a:ext uri="{FF2B5EF4-FFF2-40B4-BE49-F238E27FC236}">
                <a16:creationId xmlns:a16="http://schemas.microsoft.com/office/drawing/2014/main" id="{8132BFBC-786F-53E1-1AFC-EE4B868D5B7A}"/>
              </a:ext>
            </a:extLst>
          </p:cNvPr>
          <p:cNvSpPr>
            <a:spLocks noGrp="1"/>
          </p:cNvSpPr>
          <p:nvPr>
            <p:ph idx="1"/>
          </p:nvPr>
        </p:nvSpPr>
        <p:spPr/>
        <p:txBody>
          <a:bodyPr/>
          <a:lstStyle/>
          <a:p>
            <a:pPr fontAlgn="base"/>
            <a:r>
              <a:rPr lang="en-GB" b="1" dirty="0"/>
              <a:t>Data Quality</a:t>
            </a:r>
            <a:r>
              <a:rPr lang="en-GB" dirty="0"/>
              <a:t>: Accuracy of visualizations depends on the quality of the data. If the data is inaccurate or incomplete, the insights from the visualization will be misleading.</a:t>
            </a:r>
          </a:p>
          <a:p>
            <a:pPr fontAlgn="base"/>
            <a:r>
              <a:rPr lang="en-GB" b="1" dirty="0"/>
              <a:t>Over-Simplification</a:t>
            </a:r>
            <a:r>
              <a:rPr lang="en-GB" dirty="0"/>
              <a:t>: Simplifying data too much can lead to important details being lost like using a pie chart that oversimplifies complex relationships between categories.</a:t>
            </a:r>
          </a:p>
          <a:p>
            <a:pPr fontAlgn="base"/>
            <a:r>
              <a:rPr lang="en-GB" b="1" dirty="0"/>
              <a:t>Choosing the Right Visualization</a:t>
            </a:r>
            <a:r>
              <a:rPr lang="en-GB" dirty="0"/>
              <a:t>: Using the wrong type of visualization can distort the message. For example, a pie chart might not work well with many categories which leads to confusion.</a:t>
            </a:r>
          </a:p>
          <a:p>
            <a:pPr fontAlgn="base"/>
            <a:r>
              <a:rPr lang="en-GB" b="1" dirty="0"/>
              <a:t>Overload of Information</a:t>
            </a:r>
            <a:r>
              <a:rPr lang="en-GB" dirty="0"/>
              <a:t>: Too much information in a visualization can overwhelm viewers. It's important to focus on key data points and avoid clutter.</a:t>
            </a:r>
          </a:p>
          <a:p>
            <a:endParaRPr lang="en-GB" dirty="0"/>
          </a:p>
        </p:txBody>
      </p:sp>
    </p:spTree>
    <p:extLst>
      <p:ext uri="{BB962C8B-B14F-4D97-AF65-F5344CB8AC3E}">
        <p14:creationId xmlns:p14="http://schemas.microsoft.com/office/powerpoint/2010/main" val="152423017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322</TotalTime>
  <Words>2103</Words>
  <Application>Microsoft Office PowerPoint</Application>
  <PresentationFormat>Widescreen</PresentationFormat>
  <Paragraphs>124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Trebuchet MS</vt:lpstr>
      <vt:lpstr>Wingdings</vt:lpstr>
      <vt:lpstr>Wingdings 3</vt:lpstr>
      <vt:lpstr>Facet</vt:lpstr>
      <vt:lpstr>Unit code: DSA 2202: Unit Title: Data Driven Visualization and Decision Making</vt:lpstr>
      <vt:lpstr>INTRODUCTION TO DATA</vt:lpstr>
      <vt:lpstr>Data Attributes (Variables)</vt:lpstr>
      <vt:lpstr>Data Relationships and Data Behaviours</vt:lpstr>
      <vt:lpstr>THEORY OF DATA VISUALIZATION</vt:lpstr>
      <vt:lpstr>PowerPoint Presentation</vt:lpstr>
      <vt:lpstr>What is data visualization? </vt:lpstr>
      <vt:lpstr>Why Visualize Data? </vt:lpstr>
      <vt:lpstr>Importance of Data Visualization </vt:lpstr>
      <vt:lpstr>Types of Data Visualization </vt:lpstr>
      <vt:lpstr>Main Components of Data Visualization </vt:lpstr>
      <vt:lpstr>Challenges in Data Visualization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tirathi</dc:creator>
  <cp:lastModifiedBy>tirathi</cp:lastModifiedBy>
  <cp:revision>10</cp:revision>
  <dcterms:created xsi:type="dcterms:W3CDTF">2025-09-23T03:52:58Z</dcterms:created>
  <dcterms:modified xsi:type="dcterms:W3CDTF">2025-09-23T09:15:53Z</dcterms:modified>
</cp:coreProperties>
</file>